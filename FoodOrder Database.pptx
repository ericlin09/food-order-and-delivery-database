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0" r:id="rId1"/>
  </p:sldMasterIdLst>
  <p:notesMasterIdLst>
    <p:notesMasterId r:id="rId14"/>
  </p:notesMasterIdLst>
  <p:sldIdLst>
    <p:sldId id="257" r:id="rId2"/>
    <p:sldId id="259" r:id="rId3"/>
    <p:sldId id="258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1"/>
  </p:normalViewPr>
  <p:slideViewPr>
    <p:cSldViewPr snapToGrid="0">
      <p:cViewPr varScale="1">
        <p:scale>
          <a:sx n="147" d="100"/>
          <a:sy n="147" d="100"/>
        </p:scale>
        <p:origin x="224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BAB51F-192B-F44D-B048-AA459CDB97E7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0B9883-DE5A-C04D-B6F1-74CA76384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44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this is my personal information, and my project is food order and delivery database.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9883-DE5A-C04D-B6F1-74CA763843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496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project is a food order and delivery system inspired by Uber Eats. The simulated database contains users, restaurants and couriers as three major entities. The typical workflow is not complex; a customer selects food items from restaurant menu in software, and platform processes the order and payment information, at last it assigns a courier to deliver the food.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9883-DE5A-C04D-B6F1-74CA763843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064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these information, I construct an Entity Relationship Diagram like this. There is one thing I would like to specifically mention, that is I split the order information and items in the order as two entities to avoid data redundancy. The oeder_item table serves as a junction table between order_info and menu_item to handle the M:N relationship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9883-DE5A-C04D-B6F1-74CA763843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699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1:M relationship I choose, the users and order_info relationship, because one user can have 0 to multiple orders, but one order must belong to exact one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9883-DE5A-C04D-B6F1-74CA763843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254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9883-DE5A-C04D-B6F1-74CA763843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145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9883-DE5A-C04D-B6F1-74CA763843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233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5BEF9-69A9-7E15-3C89-822E241CA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74752-9CEC-1C47-C092-186DB93F1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93B63-5055-ED31-3098-FDB865DA9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575A8-DE24-F4BA-6BC7-6170521F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3265A-595F-AA91-FA73-5684D803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416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1B68F-8891-1352-8CD6-53465D0A5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C6AF7-08AF-5B66-CDF9-E7443FA3C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13329-903C-DF3A-6F1D-24ECAAC10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10/24/25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19D93-208B-7AEF-3FA7-75F7D73CA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F75C7-7A7C-0A69-294C-5B7D7F56E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22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64161-8A0F-863B-8A46-E2498BA1A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D865F-B95F-11F4-9047-2FE97D7EF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3F6EE-CB3C-A430-2079-84A7F210F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C1D78-2F0F-6EE5-2233-F8D92A242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AE425-EF40-DF38-5683-57D8F80E9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192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360DD-3186-9C51-EA4B-B5FAA1EFC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83CA9-32A2-5D3E-F387-15422BC2B7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A0180A-9697-E694-6AED-4913D01BA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19B90-A165-8517-A8BA-6DE3AB4BA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10/24/25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10F59-F0BA-B110-1830-E10D8D12B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D77C2-C5EF-00C0-8D04-38FD28BFE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642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56274-673A-B7AE-3C1A-9F6D31F96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6DE7D-9868-4BC1-6E0E-0078AEC2C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AE3FC-A6D1-E2B1-7576-2B366D319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BA645D-D7D0-5F6C-51E3-845D83331B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B25E1A-FD72-606D-D914-6EAFB9E452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14048D-ED5C-684E-004C-5B0AAB39A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E53BE8-82EF-95A5-2163-87BADD474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31359E-3710-1502-DC67-8A32752B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595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E3F26-772A-DD80-07F8-EBB0D555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26C763-AB17-60D9-9D7E-C569EDFA1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7704A-8BAC-6592-0C68-EE4B76AFF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E8868-55CF-2E4D-BA57-A9C62C077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123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79A417-B9D1-3098-8DAB-9C9CC4129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FF0031-1C2A-0EB0-0DD7-FF24FDBFB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671AB-FAF1-D61A-5160-C064A03A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280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0E9A3-335B-9F76-06BC-3F468A0ED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640B4-03F3-9E8D-FF2B-C60CC359A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FA031E-AA8C-59A8-1343-8901B011E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74644-6F71-3B7C-6B1F-B5C3007D5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35FF6-57B8-37B6-644D-5FACB32B5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001A4-4BD4-4671-873C-E66AD5573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742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E2E69-60BA-8E7B-79CE-955A43940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B4D3E6-F460-504C-E878-19981523A4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AD7EC9-AA5B-75DD-B66C-4E889C00C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287AD-C0A1-F971-F054-2D5BB7231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E149B-3142-316C-79C9-B8B400C19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E4EFC-7C1B-CC52-CAC4-F879DB3D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930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38A3F-AC87-5D2E-3D4E-AE12CF448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1E7B20-613A-A3C1-33D1-9CD54E111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3767F-C928-380D-6968-B7920BC9F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D3B72-B46B-95C0-4E19-ABDF594C3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06A10-A44C-665B-6412-092AAED57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22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9CC3F-55CC-84D3-AF88-FC2363870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E0CE2B-B970-A44D-A122-9214DEBA4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4B2FF-F40E-AC8F-B00F-A54B97864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42362-4828-3BB7-1292-635021DA6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258F6-F8C8-1740-60F1-ADA6BF01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588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805847-A119-F4D1-095D-AF8B6F75E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310EDE-5B5D-9FFF-1E30-9811DBC88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2199B-4305-79F3-3E68-D041FB2CA5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56346-1413-A7A1-EBAD-9B1C525D4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2CEE8-6D1E-5AEA-73B4-99654A056F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932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100A3-BD11-D8C7-8C3B-7959F99CE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7377"/>
            <a:ext cx="10515600" cy="1325563"/>
          </a:xfrm>
        </p:spPr>
        <p:txBody>
          <a:bodyPr/>
          <a:lstStyle/>
          <a:p>
            <a:r>
              <a:rPr lang="en-US" dirty="0"/>
              <a:t>Food Order &amp; Delivery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CCE4C-D4CC-040D-E35D-A62131B5E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39287"/>
            <a:ext cx="10515600" cy="29031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Name: Xi Lin</a:t>
            </a:r>
          </a:p>
          <a:p>
            <a:pPr marL="0" indent="0">
              <a:buNone/>
            </a:pPr>
            <a:r>
              <a:rPr lang="en-US" dirty="0"/>
              <a:t>Email: Xi.Lin-6@student.uts.edu.au</a:t>
            </a:r>
          </a:p>
          <a:p>
            <a:pPr marL="0" indent="0">
              <a:buNone/>
            </a:pPr>
            <a:r>
              <a:rPr lang="en-US" dirty="0"/>
              <a:t>ID: 26028098</a:t>
            </a:r>
          </a:p>
          <a:p>
            <a:pPr marL="0" indent="0">
              <a:buNone/>
            </a:pPr>
            <a:r>
              <a:rPr lang="en-US" dirty="0"/>
              <a:t>Project: Food Order &amp; Delivery Database</a:t>
            </a:r>
          </a:p>
          <a:p>
            <a:pPr marL="0" indent="0">
              <a:buNone/>
            </a:pPr>
            <a:r>
              <a:rPr lang="en-US" dirty="0"/>
              <a:t>Website: https://www.ubereats.com</a:t>
            </a:r>
          </a:p>
        </p:txBody>
      </p:sp>
    </p:spTree>
    <p:extLst>
      <p:ext uri="{BB962C8B-B14F-4D97-AF65-F5344CB8AC3E}">
        <p14:creationId xmlns:p14="http://schemas.microsoft.com/office/powerpoint/2010/main" val="3224951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A3171-DFBF-1031-D295-A890F0265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6B440-55D4-181D-B7D5-32BEA35BA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74829" cy="394815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Description:</a:t>
            </a:r>
          </a:p>
          <a:p>
            <a:pPr marL="0" indent="0">
              <a:buNone/>
            </a:pPr>
            <a:r>
              <a:rPr lang="en-US" dirty="0"/>
              <a:t>This database is a simulated food order platform database including users, restaurants and couriers as three main entities.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Typical workflow:</a:t>
            </a:r>
          </a:p>
          <a:p>
            <a:pPr marL="0" indent="0">
              <a:buNone/>
            </a:pPr>
            <a:r>
              <a:rPr lang="en-US" dirty="0"/>
              <a:t> Customer selects items from restaurant menu and places order for delivery. The platform processes the order information and payment, then assigns a courier to deliver the food.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0D2DF6-7398-344E-BBD1-E971043AFE88}"/>
              </a:ext>
            </a:extLst>
          </p:cNvPr>
          <p:cNvSpPr txBox="1"/>
          <p:nvPr/>
        </p:nvSpPr>
        <p:spPr>
          <a:xfrm>
            <a:off x="10699898" y="6354375"/>
            <a:ext cx="13078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Xi Lin-26028098</a:t>
            </a:r>
          </a:p>
        </p:txBody>
      </p:sp>
    </p:spTree>
    <p:extLst>
      <p:ext uri="{BB962C8B-B14F-4D97-AF65-F5344CB8AC3E}">
        <p14:creationId xmlns:p14="http://schemas.microsoft.com/office/powerpoint/2010/main" val="788335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4A2EA74-292D-C943-BD7B-1DD3E4002485}"/>
              </a:ext>
            </a:extLst>
          </p:cNvPr>
          <p:cNvSpPr txBox="1"/>
          <p:nvPr/>
        </p:nvSpPr>
        <p:spPr>
          <a:xfrm>
            <a:off x="10699898" y="6354375"/>
            <a:ext cx="13078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Xi Lin-26028098</a:t>
            </a:r>
          </a:p>
        </p:txBody>
      </p:sp>
      <p:pic>
        <p:nvPicPr>
          <p:cNvPr id="17" name="Picture 16" descr="A diagram of a restaurant&#10;&#10;AI-generated content may be incorrect.">
            <a:extLst>
              <a:ext uri="{FF2B5EF4-FFF2-40B4-BE49-F238E27FC236}">
                <a16:creationId xmlns:a16="http://schemas.microsoft.com/office/drawing/2014/main" id="{FD15583F-9EE3-0626-BF4A-7529CF0F1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917" y="0"/>
            <a:ext cx="77081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466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842160-1500-5B2A-B04A-5ED277AEA6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1954" y="0"/>
            <a:ext cx="4174593" cy="21567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E8A227-2563-4CF4-4F52-6120C1F70F80}"/>
              </a:ext>
            </a:extLst>
          </p:cNvPr>
          <p:cNvSpPr txBox="1"/>
          <p:nvPr/>
        </p:nvSpPr>
        <p:spPr>
          <a:xfrm>
            <a:off x="6174859" y="1556554"/>
            <a:ext cx="41174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tabLst>
                <a:tab pos="2743200" algn="ctr"/>
                <a:tab pos="5486400" algn="r"/>
                <a:tab pos="457200" algn="l"/>
                <a:tab pos="2743200" algn="ctr"/>
                <a:tab pos="5486400" algn="r"/>
              </a:tabLst>
            </a:pPr>
            <a:r>
              <a:rPr lang="en-US" dirty="0">
                <a:effectLst/>
                <a:ea typeface="Times New Roman" panose="02020603050405020304" pitchFamily="18" charset="0"/>
              </a:rPr>
              <a:t>The 1:M relationship here is the users &amp; order_info relationship, because one user can have multiple orders, but one order must belong to exact one user. </a:t>
            </a:r>
            <a:endParaRPr lang="en-US" sz="1200" dirty="0">
              <a:effectLst/>
              <a:ea typeface="Times New Roman" panose="02020603050405020304" pitchFamily="18" charset="0"/>
            </a:endParaRPr>
          </a:p>
        </p:txBody>
      </p:sp>
      <p:pic>
        <p:nvPicPr>
          <p:cNvPr id="16" name="Picture 1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7FF47E28-8E00-6B77-0D3A-04CD06800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043" y="2548165"/>
            <a:ext cx="5389961" cy="1475698"/>
          </a:xfrm>
          <a:prstGeom prst="rect">
            <a:avLst/>
          </a:prstGeom>
        </p:spPr>
      </p:pic>
      <p:pic>
        <p:nvPicPr>
          <p:cNvPr id="18" name="Picture 17" descr="A close-up of a computer error&#10;&#10;AI-generated content may be incorrect.">
            <a:extLst>
              <a:ext uri="{FF2B5EF4-FFF2-40B4-BE49-F238E27FC236}">
                <a16:creationId xmlns:a16="http://schemas.microsoft.com/office/drawing/2014/main" id="{1B5F622B-B7D7-0B3A-BA31-FD78BF03C7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043" y="4415310"/>
            <a:ext cx="11467914" cy="195883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6886EDC-9D8E-6BA0-C8F4-E0A745EC4D94}"/>
              </a:ext>
            </a:extLst>
          </p:cNvPr>
          <p:cNvSpPr txBox="1"/>
          <p:nvPr/>
        </p:nvSpPr>
        <p:spPr>
          <a:xfrm>
            <a:off x="11008243" y="6581001"/>
            <a:ext cx="13078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Xi Lin-26028098</a:t>
            </a:r>
          </a:p>
        </p:txBody>
      </p:sp>
    </p:spTree>
    <p:extLst>
      <p:ext uri="{BB962C8B-B14F-4D97-AF65-F5344CB8AC3E}">
        <p14:creationId xmlns:p14="http://schemas.microsoft.com/office/powerpoint/2010/main" val="3663768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E5229-99A2-4092-D860-54E5CEA37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B6623EF-EE55-A415-3B2C-72C23415B6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1954" y="0"/>
            <a:ext cx="4174593" cy="2156719"/>
          </a:xfrm>
          <a:prstGeom prst="rect">
            <a:avLst/>
          </a:prstGeom>
        </p:spPr>
      </p:pic>
      <p:pic>
        <p:nvPicPr>
          <p:cNvPr id="11" name="Picture 10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CD9D2E09-A4B0-C60A-EB4F-A1D9122DB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014" y="2548168"/>
            <a:ext cx="6890205" cy="1450153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9176DA-E7FB-6CBB-E951-83C9F11F1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014" y="4136250"/>
            <a:ext cx="11538082" cy="158174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193E0AE-76D9-BA16-8CA6-0B768DA5B0D0}"/>
              </a:ext>
            </a:extLst>
          </p:cNvPr>
          <p:cNvSpPr txBox="1"/>
          <p:nvPr/>
        </p:nvSpPr>
        <p:spPr>
          <a:xfrm>
            <a:off x="627014" y="5964832"/>
            <a:ext cx="10313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tabLst>
                <a:tab pos="2743200" algn="ctr"/>
                <a:tab pos="5486400" algn="r"/>
                <a:tab pos="457200" algn="l"/>
                <a:tab pos="2743200" algn="ctr"/>
                <a:tab pos="5486400" algn="r"/>
              </a:tabLst>
            </a:pPr>
            <a:r>
              <a:rPr lang="en-US" dirty="0">
                <a:effectLst/>
                <a:ea typeface="Times New Roman" panose="02020603050405020304" pitchFamily="18" charset="0"/>
              </a:rPr>
              <a:t>In this example, user ‘Alice’ has two orders, ‘Ben’ takes one order, and each order belongs to one user. </a:t>
            </a:r>
            <a:endParaRPr lang="en-US" sz="12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1F93D2-5502-99E5-77B0-2D71FA68632B}"/>
              </a:ext>
            </a:extLst>
          </p:cNvPr>
          <p:cNvSpPr txBox="1"/>
          <p:nvPr/>
        </p:nvSpPr>
        <p:spPr>
          <a:xfrm>
            <a:off x="11008243" y="6581001"/>
            <a:ext cx="13078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Xi Lin-26028098</a:t>
            </a:r>
          </a:p>
        </p:txBody>
      </p:sp>
    </p:spTree>
    <p:extLst>
      <p:ext uri="{BB962C8B-B14F-4D97-AF65-F5344CB8AC3E}">
        <p14:creationId xmlns:p14="http://schemas.microsoft.com/office/powerpoint/2010/main" val="2078225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F213A8-523B-B6F1-D8E4-9D1DC06007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52180"/>
            <a:ext cx="1934147" cy="37486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CC6054-CF20-83AA-A893-4D94012FD31A}"/>
              </a:ext>
            </a:extLst>
          </p:cNvPr>
          <p:cNvSpPr txBox="1"/>
          <p:nvPr/>
        </p:nvSpPr>
        <p:spPr>
          <a:xfrm>
            <a:off x="10884197" y="6581001"/>
            <a:ext cx="13078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Xi Lin-26028098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DB96DC-A808-EE7D-9CE0-1C7882B59B84}"/>
              </a:ext>
            </a:extLst>
          </p:cNvPr>
          <p:cNvSpPr txBox="1"/>
          <p:nvPr/>
        </p:nvSpPr>
        <p:spPr>
          <a:xfrm>
            <a:off x="2357771" y="369696"/>
            <a:ext cx="9180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tabLst>
                <a:tab pos="2743200" algn="ctr"/>
                <a:tab pos="5486400" algn="r"/>
                <a:tab pos="457200" algn="l"/>
                <a:tab pos="2743200" algn="ctr"/>
                <a:tab pos="5486400" algn="r"/>
              </a:tabLst>
            </a:pPr>
            <a:r>
              <a:rPr lang="en-US" dirty="0">
                <a:effectLst/>
                <a:ea typeface="Times New Roman" panose="02020603050405020304" pitchFamily="18" charset="0"/>
              </a:rPr>
              <a:t>This is an M:N relationship, as one order should have at least one item, and one item can appear in any number of different orders.</a:t>
            </a:r>
            <a:endParaRPr lang="en-US" sz="1200" dirty="0">
              <a:effectLst/>
              <a:ea typeface="Times New Roman" panose="02020603050405020304" pitchFamily="18" charset="0"/>
            </a:endParaRPr>
          </a:p>
        </p:txBody>
      </p:sp>
      <p:pic>
        <p:nvPicPr>
          <p:cNvPr id="9" name="Picture 8" descr="A close up of a code&#10;&#10;AI-generated content may be incorrect.">
            <a:extLst>
              <a:ext uri="{FF2B5EF4-FFF2-40B4-BE49-F238E27FC236}">
                <a16:creationId xmlns:a16="http://schemas.microsoft.com/office/drawing/2014/main" id="{37C05E95-E517-E9DB-2980-2E8F41133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0268" y="1225864"/>
            <a:ext cx="9911732" cy="1449803"/>
          </a:xfrm>
          <a:prstGeom prst="rect">
            <a:avLst/>
          </a:prstGeom>
        </p:spPr>
      </p:pic>
      <p:pic>
        <p:nvPicPr>
          <p:cNvPr id="11" name="Picture 10" descr="A close-up of a restaurant&#10;&#10;AI-generated content may be incorrect.">
            <a:extLst>
              <a:ext uri="{FF2B5EF4-FFF2-40B4-BE49-F238E27FC236}">
                <a16:creationId xmlns:a16="http://schemas.microsoft.com/office/drawing/2014/main" id="{6A5C7174-2F1E-7A00-7384-92396ACC19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0268" y="3106467"/>
            <a:ext cx="7674623" cy="1292462"/>
          </a:xfrm>
          <a:prstGeom prst="rect">
            <a:avLst/>
          </a:prstGeom>
        </p:spPr>
      </p:pic>
      <p:pic>
        <p:nvPicPr>
          <p:cNvPr id="16" name="Picture 15" descr="A close-up of a message&#10;&#10;AI-generated content may be incorrect.">
            <a:extLst>
              <a:ext uri="{FF2B5EF4-FFF2-40B4-BE49-F238E27FC236}">
                <a16:creationId xmlns:a16="http://schemas.microsoft.com/office/drawing/2014/main" id="{EA724842-5271-0092-58B3-1FCD1EEB2F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4013" y="4648596"/>
            <a:ext cx="10941029" cy="172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031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4BC7-65AE-0E16-CD4C-B59C48762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5D5EAA-D5B9-60BB-FC0B-365D26F616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52180"/>
            <a:ext cx="1934147" cy="37486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B45ADF-6033-441A-1EFA-2FF06AC637C0}"/>
              </a:ext>
            </a:extLst>
          </p:cNvPr>
          <p:cNvSpPr txBox="1"/>
          <p:nvPr/>
        </p:nvSpPr>
        <p:spPr>
          <a:xfrm>
            <a:off x="10884197" y="6581001"/>
            <a:ext cx="13078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Xi Lin-26028098</a:t>
            </a:r>
          </a:p>
        </p:txBody>
      </p:sp>
      <p:pic>
        <p:nvPicPr>
          <p:cNvPr id="13" name="Picture 1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8A5E64C-3D0B-84F1-2BEE-F627672D9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114" y="543465"/>
            <a:ext cx="7006858" cy="41089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5422649-E710-3B12-1E8B-C114DC8C2E95}"/>
              </a:ext>
            </a:extLst>
          </p:cNvPr>
          <p:cNvSpPr txBox="1"/>
          <p:nvPr/>
        </p:nvSpPr>
        <p:spPr>
          <a:xfrm>
            <a:off x="1609059" y="5251836"/>
            <a:ext cx="89738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tabLst>
                <a:tab pos="2743200" algn="ctr"/>
                <a:tab pos="5486400" algn="r"/>
                <a:tab pos="457200" algn="l"/>
                <a:tab pos="2743200" algn="ctr"/>
                <a:tab pos="5486400" algn="r"/>
              </a:tabLst>
            </a:pPr>
            <a:r>
              <a:rPr lang="en-US" dirty="0">
                <a:effectLst/>
                <a:ea typeface="Times New Roman" panose="02020603050405020304" pitchFamily="18" charset="0"/>
              </a:rPr>
              <a:t>This command is to find all orders containing “Kung Pao Chicken” or  “Dan Dan Noodles”. Here,  the item “Dan Dan Noodles” appeared in order 1 and 3, while order 1 contains two items, which indicates that it is an M:N relationship.</a:t>
            </a:r>
            <a:endParaRPr lang="en-US" sz="1200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538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8DC5DDD6-60CE-2D7A-3FC0-4D650DFE4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83" y="859834"/>
            <a:ext cx="5992093" cy="11247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6D9073-5403-E3EF-DE19-72132C13425E}"/>
              </a:ext>
            </a:extLst>
          </p:cNvPr>
          <p:cNvSpPr txBox="1"/>
          <p:nvPr/>
        </p:nvSpPr>
        <p:spPr>
          <a:xfrm>
            <a:off x="486582" y="490502"/>
            <a:ext cx="109964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Simple query: List the user id and email of all users with phone number ending with “2”.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B6A4DA-C4D1-A3FB-7832-862CC4883027}"/>
              </a:ext>
            </a:extLst>
          </p:cNvPr>
          <p:cNvSpPr txBox="1"/>
          <p:nvPr/>
        </p:nvSpPr>
        <p:spPr>
          <a:xfrm>
            <a:off x="10884197" y="6581001"/>
            <a:ext cx="13078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Xi Lin-26028098</a:t>
            </a:r>
          </a:p>
        </p:txBody>
      </p:sp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569A6AA-74BD-854F-0659-E1374EE08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83" y="2641239"/>
            <a:ext cx="10996499" cy="17642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121085-CB24-38F8-633E-7F3D0AB03F0E}"/>
              </a:ext>
            </a:extLst>
          </p:cNvPr>
          <p:cNvSpPr txBox="1"/>
          <p:nvPr/>
        </p:nvSpPr>
        <p:spPr>
          <a:xfrm>
            <a:off x="486583" y="2189887"/>
            <a:ext cx="10996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Natural join: List the name , phone and suburb of users who live in Sydney or Ultimo.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4FBB2FE-D94E-6C1E-EB19-F4B14A00C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83" y="4975680"/>
            <a:ext cx="11470507" cy="13918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42DB6D4-A649-FE8F-B095-062F7E7FE545}"/>
              </a:ext>
            </a:extLst>
          </p:cNvPr>
          <p:cNvSpPr txBox="1"/>
          <p:nvPr/>
        </p:nvSpPr>
        <p:spPr>
          <a:xfrm>
            <a:off x="486583" y="4577511"/>
            <a:ext cx="10397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Cross product: List the name , phone and suburb of users who live in Sydney or Ultimo. </a:t>
            </a:r>
          </a:p>
        </p:txBody>
      </p:sp>
    </p:spTree>
    <p:extLst>
      <p:ext uri="{BB962C8B-B14F-4D97-AF65-F5344CB8AC3E}">
        <p14:creationId xmlns:p14="http://schemas.microsoft.com/office/powerpoint/2010/main" val="3757840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AB5D4-D34B-8E1A-7D7A-3669F27A6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09FA645-02B4-3299-6CC5-1E2741791CC8}"/>
              </a:ext>
            </a:extLst>
          </p:cNvPr>
          <p:cNvSpPr txBox="1"/>
          <p:nvPr/>
        </p:nvSpPr>
        <p:spPr>
          <a:xfrm>
            <a:off x="446443" y="234823"/>
            <a:ext cx="11091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Group by &amp; Having: List restaurant id, name and number of items of the restaurant with more than 5 items and name starting with 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F3A390-3226-ED57-71D7-46D91DEBD076}"/>
              </a:ext>
            </a:extLst>
          </p:cNvPr>
          <p:cNvSpPr txBox="1"/>
          <p:nvPr/>
        </p:nvSpPr>
        <p:spPr>
          <a:xfrm>
            <a:off x="10884197" y="6581001"/>
            <a:ext cx="13078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Xi Lin-26028098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675D2B-5CF9-8BE4-6763-8CA2D26E6906}"/>
              </a:ext>
            </a:extLst>
          </p:cNvPr>
          <p:cNvSpPr txBox="1"/>
          <p:nvPr/>
        </p:nvSpPr>
        <p:spPr>
          <a:xfrm>
            <a:off x="486581" y="2263379"/>
            <a:ext cx="11091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Sub query: List the item of restaurant with star no less than 4.8.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1B5439-C974-A50F-2600-489568B31ED8}"/>
              </a:ext>
            </a:extLst>
          </p:cNvPr>
          <p:cNvSpPr txBox="1"/>
          <p:nvPr/>
        </p:nvSpPr>
        <p:spPr>
          <a:xfrm>
            <a:off x="486582" y="4577511"/>
            <a:ext cx="11358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Self join: List the the pair of users who live in the same suburb.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EDBABF-530C-218F-2451-34C550CBF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82" y="859834"/>
            <a:ext cx="11091655" cy="1322559"/>
          </a:xfrm>
          <a:prstGeom prst="rect">
            <a:avLst/>
          </a:prstGeom>
        </p:spPr>
      </p:pic>
      <p:pic>
        <p:nvPicPr>
          <p:cNvPr id="6" name="Picture 5" descr="A screenshot of a menu&#10;&#10;AI-generated content may be incorrect.">
            <a:extLst>
              <a:ext uri="{FF2B5EF4-FFF2-40B4-BE49-F238E27FC236}">
                <a16:creationId xmlns:a16="http://schemas.microsoft.com/office/drawing/2014/main" id="{5D997B32-289D-BD3D-F47A-0F3285624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82" y="2669874"/>
            <a:ext cx="10004304" cy="1966494"/>
          </a:xfrm>
          <a:prstGeom prst="rect">
            <a:avLst/>
          </a:prstGeom>
        </p:spPr>
      </p:pic>
      <p:pic>
        <p:nvPicPr>
          <p:cNvPr id="12" name="Picture 1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1D16EF0E-60B6-0C0E-111D-63DE3E21E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81" y="4885015"/>
            <a:ext cx="11659281" cy="173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826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02677-F463-83E8-B5BD-FE24058E0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89B22D4-B24A-DC89-A961-2C0837481C99}"/>
              </a:ext>
            </a:extLst>
          </p:cNvPr>
          <p:cNvSpPr txBox="1"/>
          <p:nvPr/>
        </p:nvSpPr>
        <p:spPr>
          <a:xfrm>
            <a:off x="446443" y="234823"/>
            <a:ext cx="11091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Check statement: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1568AD-2FBC-63CB-D7D2-49C235233A01}"/>
              </a:ext>
            </a:extLst>
          </p:cNvPr>
          <p:cNvSpPr txBox="1"/>
          <p:nvPr/>
        </p:nvSpPr>
        <p:spPr>
          <a:xfrm>
            <a:off x="10884197" y="6581001"/>
            <a:ext cx="13078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Xi Lin-26028098</a:t>
            </a:r>
          </a:p>
        </p:txBody>
      </p:sp>
      <p:pic>
        <p:nvPicPr>
          <p:cNvPr id="4" name="Picture 3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D626A79F-2D9E-6CFD-969F-7F140FC6A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43" y="831754"/>
            <a:ext cx="10237917" cy="2369645"/>
          </a:xfrm>
          <a:prstGeom prst="rect">
            <a:avLst/>
          </a:prstGeom>
        </p:spPr>
      </p:pic>
      <p:pic>
        <p:nvPicPr>
          <p:cNvPr id="9" name="Picture 8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3BB2B53C-E9E3-CDD4-C25D-A1DE835F4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43" y="3923615"/>
            <a:ext cx="7769988" cy="21026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4C9213-B62A-8124-1E28-DB011FDFCEE2}"/>
              </a:ext>
            </a:extLst>
          </p:cNvPr>
          <p:cNvSpPr txBox="1"/>
          <p:nvPr/>
        </p:nvSpPr>
        <p:spPr>
          <a:xfrm>
            <a:off x="550172" y="3327088"/>
            <a:ext cx="11091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Check the state entered is a valid state in Australia.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980FB8-1DB7-EA0D-ED79-41D2ED9C2C53}"/>
              </a:ext>
            </a:extLst>
          </p:cNvPr>
          <p:cNvSpPr txBox="1"/>
          <p:nvPr/>
        </p:nvSpPr>
        <p:spPr>
          <a:xfrm>
            <a:off x="446442" y="6050021"/>
            <a:ext cx="11091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Check the rate of restaurant is between 1-5.</a:t>
            </a:r>
          </a:p>
        </p:txBody>
      </p:sp>
    </p:spTree>
    <p:extLst>
      <p:ext uri="{BB962C8B-B14F-4D97-AF65-F5344CB8AC3E}">
        <p14:creationId xmlns:p14="http://schemas.microsoft.com/office/powerpoint/2010/main" val="2331474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9638E-89E3-BC4B-96AC-C8497E40F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B26046F-A6D1-0939-FD31-502772B19162}"/>
              </a:ext>
            </a:extLst>
          </p:cNvPr>
          <p:cNvSpPr txBox="1"/>
          <p:nvPr/>
        </p:nvSpPr>
        <p:spPr>
          <a:xfrm>
            <a:off x="446443" y="234823"/>
            <a:ext cx="11091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On delete  cascade: This ensure once a user is deleted, the address related to him is deleted as well.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D36F77-8FCE-86F0-F569-9A73F7C28699}"/>
              </a:ext>
            </a:extLst>
          </p:cNvPr>
          <p:cNvSpPr txBox="1"/>
          <p:nvPr/>
        </p:nvSpPr>
        <p:spPr>
          <a:xfrm>
            <a:off x="10884197" y="6581001"/>
            <a:ext cx="13078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Xi Lin-26028098</a:t>
            </a:r>
          </a:p>
        </p:txBody>
      </p:sp>
      <p:pic>
        <p:nvPicPr>
          <p:cNvPr id="3" name="Picture 2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7B10E36D-84E9-65B4-1EDA-99E1675D6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42" y="707669"/>
            <a:ext cx="10373337" cy="2566871"/>
          </a:xfrm>
          <a:prstGeom prst="rect">
            <a:avLst/>
          </a:prstGeom>
        </p:spPr>
      </p:pic>
      <p:pic>
        <p:nvPicPr>
          <p:cNvPr id="6" name="Picture 5" descr="A close-up of a computer error&#10;&#10;AI-generated content may be incorrect.">
            <a:extLst>
              <a:ext uri="{FF2B5EF4-FFF2-40B4-BE49-F238E27FC236}">
                <a16:creationId xmlns:a16="http://schemas.microsoft.com/office/drawing/2014/main" id="{BFC9904E-8E1F-8834-BA9C-9D5ABEA40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42" y="4436077"/>
            <a:ext cx="11545081" cy="19276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4FF0F6-3D39-1DDB-41AA-9AF2EB9E8287}"/>
              </a:ext>
            </a:extLst>
          </p:cNvPr>
          <p:cNvSpPr txBox="1"/>
          <p:nvPr/>
        </p:nvSpPr>
        <p:spPr>
          <a:xfrm>
            <a:off x="399075" y="3789746"/>
            <a:ext cx="11592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On delete restrict: Prevent the deletion of a user or a restaurant if there are still related rows in the order_info table.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997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DBC53-1690-FAEC-2E71-E3868B56D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5666CE5-C70D-B757-77DA-8B553A7B2151}"/>
              </a:ext>
            </a:extLst>
          </p:cNvPr>
          <p:cNvSpPr txBox="1"/>
          <p:nvPr/>
        </p:nvSpPr>
        <p:spPr>
          <a:xfrm>
            <a:off x="10884197" y="6581001"/>
            <a:ext cx="13078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Xi Lin-26028098</a:t>
            </a:r>
          </a:p>
        </p:txBody>
      </p:sp>
      <p:pic>
        <p:nvPicPr>
          <p:cNvPr id="4" name="Picture 3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88FF31E9-1AF1-4DD7-3E68-F493A3482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8" y="1367701"/>
            <a:ext cx="12100283" cy="23219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E59092-D017-28BC-8C89-74D4B18DF6EE}"/>
              </a:ext>
            </a:extLst>
          </p:cNvPr>
          <p:cNvSpPr txBox="1"/>
          <p:nvPr/>
        </p:nvSpPr>
        <p:spPr>
          <a:xfrm>
            <a:off x="45858" y="5167133"/>
            <a:ext cx="11592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view lists all the items from highly rated restaurants.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979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1802</TotalTime>
  <Words>669</Words>
  <Application>Microsoft Macintosh PowerPoint</Application>
  <PresentationFormat>Widescreen</PresentationFormat>
  <Paragraphs>49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Food Order &amp; Delivery Database</vt:lpstr>
      <vt:lpstr>Domain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 lin</dc:creator>
  <cp:lastModifiedBy>xi lin</cp:lastModifiedBy>
  <cp:revision>9</cp:revision>
  <dcterms:created xsi:type="dcterms:W3CDTF">2025-10-04T08:44:59Z</dcterms:created>
  <dcterms:modified xsi:type="dcterms:W3CDTF">2025-10-24T01:10:28Z</dcterms:modified>
</cp:coreProperties>
</file>